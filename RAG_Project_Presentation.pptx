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Calibri (MS) Italics" charset="1" panose="020F05020202040A0204"/>
      <p:regular r:id="rId36"/>
    </p:embeddedFont>
    <p:embeddedFont>
      <p:font typeface="Courier New" charset="1" panose="020703090202050204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VAHXopVjMKs.mp4" Type="http://schemas.openxmlformats.org/officeDocument/2006/relationships/video"/><Relationship Id="rId6" Target="../media/VAHXopVjMKs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3553463"/>
            <a:ext cx="2219963" cy="135131"/>
            <a:chOff x="0" y="0"/>
            <a:chExt cx="2959951" cy="180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9989" cy="180213"/>
            </a:xfrm>
            <a:custGeom>
              <a:avLst/>
              <a:gdLst/>
              <a:ahLst/>
              <a:cxnLst/>
              <a:rect r="r" b="b" t="t" l="l"/>
              <a:pathLst>
                <a:path h="180213" w="2959989">
                  <a:moveTo>
                    <a:pt x="0" y="0"/>
                  </a:moveTo>
                  <a:lnTo>
                    <a:pt x="2959989" y="0"/>
                  </a:lnTo>
                  <a:lnTo>
                    <a:pt x="2959989" y="180213"/>
                  </a:lnTo>
                  <a:lnTo>
                    <a:pt x="0" y="180213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14400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42875"/>
              <a:ext cx="21945600" cy="2581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Benchmarking Retrieval-Augmented Generation Pipelines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651760"/>
            <a:ext cx="16459200" cy="822960"/>
            <a:chOff x="0" y="0"/>
            <a:chExt cx="219456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CE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Comparative Study of Chunking Strategies, Embedding Models, and Large Language Models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4206240"/>
            <a:ext cx="16459200" cy="1645920"/>
            <a:chOff x="0" y="0"/>
            <a:chExt cx="2194560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Guide: </a:t>
              </a: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[Guide Name, Designation]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C9A2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(Group No. 125): </a:t>
              </a: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Sumit Chauhan  •  Ankit Yadav  •  Shikhar Saxena  •  Tejas Kumar Sahu  •  Tanuj Vatsa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78240"/>
            <a:ext cx="16459200" cy="640080"/>
            <a:chOff x="0" y="0"/>
            <a:chExt cx="219456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CE6F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Computer Science and Engineering, VIT Bhopal University  |  Project Exhibition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197" y="1995802"/>
            <a:ext cx="16357597" cy="709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LLMs lack access to private or current knowledge and hallucinate on specialized topics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RAG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retrieves relevant passages from an external knowledge base and grounds the answer in them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Pipeline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chunk → embed → index → retrieve top-k → generate → evaluate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chunking matters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it defines the retrieval unit; bad boundaries split ideas or add noise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project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benchmarks 5 chunking strategies with a fixed embedding model and LLM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Work and Limitations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4875" y="2002155"/>
            <a:ext cx="8065770" cy="7151370"/>
            <a:chOff x="0" y="0"/>
            <a:chExt cx="10754360" cy="9535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5436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9535160"/>
                  </a:lnTo>
                  <a:lnTo>
                    <a:pt x="0" y="953516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1998983"/>
            <a:ext cx="153419" cy="7157723"/>
            <a:chOff x="0" y="0"/>
            <a:chExt cx="204559" cy="9543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597" cy="9543669"/>
            </a:xfrm>
            <a:custGeom>
              <a:avLst/>
              <a:gdLst/>
              <a:ahLst/>
              <a:cxnLst/>
              <a:rect r="r" b="b" t="t" l="l"/>
              <a:pathLst>
                <a:path h="954366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57984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9974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work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9517" y="2910202"/>
            <a:ext cx="7396477" cy="609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RAG introduced as parametric + non-parametric memory [1]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Surveys describe RAG as a multi-stage pipeline [2]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RAGAS gives automated retrieval and generation metrics [3]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EvaRAG benchmarks retrievers, indexes and metrics [4]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002155"/>
            <a:ext cx="8065770" cy="7151370"/>
            <a:chOff x="0" y="0"/>
            <a:chExt cx="10754360" cy="9535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436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9535160"/>
                  </a:lnTo>
                  <a:lnTo>
                    <a:pt x="0" y="953516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14183" y="1998983"/>
            <a:ext cx="153419" cy="7157723"/>
            <a:chOff x="0" y="0"/>
            <a:chExt cx="204559" cy="95436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597" cy="9543669"/>
            </a:xfrm>
            <a:custGeom>
              <a:avLst/>
              <a:gdLst/>
              <a:ahLst/>
              <a:cxnLst/>
              <a:rect r="r" b="b" t="t" l="l"/>
              <a:pathLst>
                <a:path h="954366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92640" y="2157984"/>
            <a:ext cx="7498080" cy="640080"/>
            <a:chOff x="0" y="0"/>
            <a:chExt cx="999744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99974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51997" y="2910202"/>
            <a:ext cx="7396477" cy="609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Settings tuned by heuristic trial-and-error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Several components changed together, so causes are unclear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Chunking rarely isolated as a variable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Latency often ignored next to quality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Often built on closed-source APIs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Work and Methodology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21995" y="2093595"/>
            <a:ext cx="2487930" cy="1482090"/>
            <a:chOff x="0" y="0"/>
            <a:chExt cx="3317240" cy="1976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172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33172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119628" y="0"/>
                  </a:lnTo>
                  <a:cubicBezTo>
                    <a:pt x="3228721" y="0"/>
                    <a:pt x="3317240" y="88519"/>
                    <a:pt x="3317240" y="197612"/>
                  </a:cubicBezTo>
                  <a:lnTo>
                    <a:pt x="3317240" y="1778508"/>
                  </a:lnTo>
                  <a:cubicBezTo>
                    <a:pt x="3317240" y="1887601"/>
                    <a:pt x="3228721" y="1976120"/>
                    <a:pt x="31196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317240" cy="2014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Normalize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text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383820">
            <a:off x="3173578" y="2825115"/>
            <a:ext cx="455971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3593211" y="2093595"/>
            <a:ext cx="2487930" cy="1482090"/>
            <a:chOff x="0" y="0"/>
            <a:chExt cx="3317240" cy="1976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172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33172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119628" y="0"/>
                  </a:lnTo>
                  <a:cubicBezTo>
                    <a:pt x="3228721" y="0"/>
                    <a:pt x="3317240" y="88519"/>
                    <a:pt x="3317240" y="197612"/>
                  </a:cubicBezTo>
                  <a:lnTo>
                    <a:pt x="3317240" y="1778508"/>
                  </a:lnTo>
                  <a:cubicBezTo>
                    <a:pt x="3317240" y="1887601"/>
                    <a:pt x="3228721" y="1976120"/>
                    <a:pt x="31196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317240" cy="2014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(1 of 5)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383820">
            <a:off x="6044794" y="2825115"/>
            <a:ext cx="455971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6464427" y="2093595"/>
            <a:ext cx="2487930" cy="1482090"/>
            <a:chOff x="0" y="0"/>
            <a:chExt cx="3317240" cy="1976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172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33172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119628" y="0"/>
                  </a:lnTo>
                  <a:cubicBezTo>
                    <a:pt x="3228721" y="0"/>
                    <a:pt x="3317240" y="88519"/>
                    <a:pt x="3317240" y="197612"/>
                  </a:cubicBezTo>
                  <a:lnTo>
                    <a:pt x="3317240" y="1778508"/>
                  </a:lnTo>
                  <a:cubicBezTo>
                    <a:pt x="3317240" y="1887601"/>
                    <a:pt x="3228721" y="1976120"/>
                    <a:pt x="31196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317240" cy="2014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Embed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qwen3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383820">
            <a:off x="8916010" y="2825115"/>
            <a:ext cx="455971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9335643" y="2093595"/>
            <a:ext cx="2487930" cy="1482090"/>
            <a:chOff x="0" y="0"/>
            <a:chExt cx="3317240" cy="1976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172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33172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119628" y="0"/>
                  </a:lnTo>
                  <a:cubicBezTo>
                    <a:pt x="3228721" y="0"/>
                    <a:pt x="3317240" y="88519"/>
                    <a:pt x="3317240" y="197612"/>
                  </a:cubicBezTo>
                  <a:lnTo>
                    <a:pt x="3317240" y="1778508"/>
                  </a:lnTo>
                  <a:cubicBezTo>
                    <a:pt x="3317240" y="1887601"/>
                    <a:pt x="3228721" y="1976120"/>
                    <a:pt x="31196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17240" cy="2014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top-k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383820">
            <a:off x="11787226" y="2825115"/>
            <a:ext cx="455971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12206859" y="2093595"/>
            <a:ext cx="2487930" cy="1482090"/>
            <a:chOff x="0" y="0"/>
            <a:chExt cx="3317240" cy="1976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172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33172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119628" y="0"/>
                  </a:lnTo>
                  <a:cubicBezTo>
                    <a:pt x="3228721" y="0"/>
                    <a:pt x="3317240" y="88519"/>
                    <a:pt x="3317240" y="197612"/>
                  </a:cubicBezTo>
                  <a:lnTo>
                    <a:pt x="3317240" y="1778508"/>
                  </a:lnTo>
                  <a:cubicBezTo>
                    <a:pt x="3317240" y="1887601"/>
                    <a:pt x="3228721" y="1976120"/>
                    <a:pt x="31196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317240" cy="2014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gemma4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383820">
            <a:off x="14658442" y="2825115"/>
            <a:ext cx="455971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5078075" y="2093595"/>
            <a:ext cx="2487930" cy="1482090"/>
            <a:chOff x="0" y="0"/>
            <a:chExt cx="3317240" cy="1976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17240" cy="1976120"/>
            </a:xfrm>
            <a:custGeom>
              <a:avLst/>
              <a:gdLst/>
              <a:ahLst/>
              <a:cxnLst/>
              <a:rect r="r" b="b" t="t" l="l"/>
              <a:pathLst>
                <a:path h="1976120" w="3317240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3119628" y="0"/>
                  </a:lnTo>
                  <a:cubicBezTo>
                    <a:pt x="3228721" y="0"/>
                    <a:pt x="3317240" y="88519"/>
                    <a:pt x="3317240" y="197612"/>
                  </a:cubicBezTo>
                  <a:lnTo>
                    <a:pt x="3317240" y="1778508"/>
                  </a:lnTo>
                  <a:cubicBezTo>
                    <a:pt x="3317240" y="1887601"/>
                    <a:pt x="3228721" y="1976120"/>
                    <a:pt x="3119628" y="1976120"/>
                  </a:cubicBezTo>
                  <a:lnTo>
                    <a:pt x="197612" y="1976120"/>
                  </a:lnTo>
                  <a:cubicBezTo>
                    <a:pt x="88519" y="1976120"/>
                    <a:pt x="0" y="1887601"/>
                    <a:pt x="0" y="1778508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317240" cy="2014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RAGAS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5197" y="4199887"/>
            <a:ext cx="16357597" cy="507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Controlled design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only chunking varies; embedding, LLM, questions, prompt, temperature and top-p are fixed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Factorial matrix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5 × 1 × 1 = 5 configurations (C01–C05)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Metrics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Context Recall, Context Precision, Faithfulness, Answer Relevancy, end-to-end latency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Selection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composite score S(c) = (Recall + Precision + Faithfulness) / 3, with Pareto analysis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Novelty of the Project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4875" y="2093595"/>
            <a:ext cx="5231130" cy="3219450"/>
            <a:chOff x="0" y="0"/>
            <a:chExt cx="6974840" cy="429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2090423"/>
            <a:ext cx="153419" cy="3225803"/>
            <a:chOff x="0" y="0"/>
            <a:chExt cx="204559" cy="4301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249424"/>
            <a:ext cx="4663440" cy="640080"/>
            <a:chOff x="0" y="0"/>
            <a:chExt cx="62179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Isolated variable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9517" y="302069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Chunking is the only factor changed, so effects are attributable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2715" y="2093595"/>
            <a:ext cx="5231130" cy="3219450"/>
            <a:chOff x="0" y="0"/>
            <a:chExt cx="6974840" cy="4292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79543" y="2090423"/>
            <a:ext cx="153419" cy="3225803"/>
            <a:chOff x="0" y="0"/>
            <a:chExt cx="204559" cy="4301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0" y="2249424"/>
            <a:ext cx="4663440" cy="640080"/>
            <a:chOff x="0" y="0"/>
            <a:chExt cx="621792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Open-weight stack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817357" y="302069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qwen3-embedding with gemma4:31b-cloud instead of legacy closed APIs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0555" y="2093595"/>
            <a:ext cx="5231130" cy="3219450"/>
            <a:chOff x="0" y="0"/>
            <a:chExt cx="6974840" cy="4292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057383" y="2090423"/>
            <a:ext cx="153419" cy="3225803"/>
            <a:chOff x="0" y="0"/>
            <a:chExt cx="204559" cy="4301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35840" y="2249424"/>
            <a:ext cx="4663440" cy="640080"/>
            <a:chOff x="0" y="0"/>
            <a:chExt cx="621792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Five strategies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395197" y="302069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Includes semantic and LLM-driven agentic chunking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4875" y="5659755"/>
            <a:ext cx="5231130" cy="3219450"/>
            <a:chOff x="0" y="0"/>
            <a:chExt cx="6974840" cy="4292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01703" y="5656583"/>
            <a:ext cx="153419" cy="3225803"/>
            <a:chOff x="0" y="0"/>
            <a:chExt cx="204559" cy="4301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80160" y="5815584"/>
            <a:ext cx="4663440" cy="640080"/>
            <a:chOff x="0" y="0"/>
            <a:chExt cx="621792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 + speed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39517" y="658685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Composite score and Pareto frontier weigh accuracy against latency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482715" y="5659755"/>
            <a:ext cx="5231130" cy="3219450"/>
            <a:chOff x="0" y="0"/>
            <a:chExt cx="6974840" cy="4292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479543" y="5656583"/>
            <a:ext cx="153419" cy="3225803"/>
            <a:chOff x="0" y="0"/>
            <a:chExt cx="204559" cy="43010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0" y="5815584"/>
            <a:ext cx="4663440" cy="640080"/>
            <a:chOff x="0" y="0"/>
            <a:chExt cx="62179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Reusable engine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817357" y="658685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Configuration-driven, modular benchmark with a reproducibility checklist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Usage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197" y="1995802"/>
            <a:ext cx="16357597" cy="709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Enterprise document Q&amp;A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policies, manuals and internal wikis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 support assistants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grounded answers from product documentation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Legal, medical and technical search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precise retrieval from dense, domain documents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Academic and research assistants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question answering over papers and PDFs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Production tuning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choose a chunker by latency budget, e.g. fixed-size for speed, agentic for precision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and Software Requirements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4875" y="2002155"/>
            <a:ext cx="8065770" cy="7151370"/>
            <a:chOff x="0" y="0"/>
            <a:chExt cx="10754360" cy="9535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5436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9535160"/>
                  </a:lnTo>
                  <a:lnTo>
                    <a:pt x="0" y="953516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1998983"/>
            <a:ext cx="153419" cy="7157723"/>
            <a:chOff x="0" y="0"/>
            <a:chExt cx="204559" cy="9543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597" cy="9543669"/>
            </a:xfrm>
            <a:custGeom>
              <a:avLst/>
              <a:gdLst/>
              <a:ahLst/>
              <a:cxnLst/>
              <a:rect r="r" b="b" t="t" l="l"/>
              <a:pathLst>
                <a:path h="954366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57984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9974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9517" y="2910202"/>
            <a:ext cx="7396477" cy="609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3 environment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Ollama runtime: qwen3-embedding:latest and gemma4:31b-cloud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RAGAS evaluation framework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Local vector store with cosine similarity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PDF text extraction and tokenizer libraries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Plotting library for charts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002155"/>
            <a:ext cx="8065770" cy="7151370"/>
            <a:chOff x="0" y="0"/>
            <a:chExt cx="10754360" cy="9535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4360" cy="9535160"/>
            </a:xfrm>
            <a:custGeom>
              <a:avLst/>
              <a:gdLst/>
              <a:ahLst/>
              <a:cxnLst/>
              <a:rect r="r" b="b" t="t" l="l"/>
              <a:pathLst>
                <a:path h="953516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9535160"/>
                  </a:lnTo>
                  <a:lnTo>
                    <a:pt x="0" y="953516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14183" y="1998983"/>
            <a:ext cx="153419" cy="7157723"/>
            <a:chOff x="0" y="0"/>
            <a:chExt cx="204559" cy="95436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597" cy="9543669"/>
            </a:xfrm>
            <a:custGeom>
              <a:avLst/>
              <a:gdLst/>
              <a:ahLst/>
              <a:cxnLst/>
              <a:rect r="r" b="b" t="t" l="l"/>
              <a:pathLst>
                <a:path h="954366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9543669"/>
                  </a:lnTo>
                  <a:lnTo>
                    <a:pt x="0" y="954366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92640" y="2157984"/>
            <a:ext cx="7498080" cy="640080"/>
            <a:chOff x="0" y="0"/>
            <a:chExt cx="999744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99974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51997" y="2910202"/>
            <a:ext cx="7396477" cy="609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Laptop or desktop PC (multi-core CPU)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16 GB RAM recommended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Stable internet (cloud-hosted LLM)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Few GB free disk for models and vector index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GPU optional for local embedding speed-up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Overall System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21995" y="2093595"/>
            <a:ext cx="3036570" cy="1756410"/>
            <a:chOff x="0" y="0"/>
            <a:chExt cx="4048760" cy="2341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487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40487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3851529" y="0"/>
                  </a:lnTo>
                  <a:cubicBezTo>
                    <a:pt x="3960495" y="0"/>
                    <a:pt x="4048760" y="88265"/>
                    <a:pt x="4048760" y="197231"/>
                  </a:cubicBezTo>
                  <a:lnTo>
                    <a:pt x="4048760" y="2144649"/>
                  </a:lnTo>
                  <a:cubicBezTo>
                    <a:pt x="4048760" y="2253615"/>
                    <a:pt x="3960495" y="2341880"/>
                    <a:pt x="38515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048760" cy="2389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(PDF)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417180">
            <a:off x="3722094" y="295313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4105275" y="2093595"/>
            <a:ext cx="3036570" cy="1756410"/>
            <a:chOff x="0" y="0"/>
            <a:chExt cx="4048760" cy="2341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487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40487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3851529" y="0"/>
                  </a:lnTo>
                  <a:cubicBezTo>
                    <a:pt x="3960495" y="0"/>
                    <a:pt x="4048760" y="88265"/>
                    <a:pt x="4048760" y="197231"/>
                  </a:cubicBezTo>
                  <a:lnTo>
                    <a:pt x="4048760" y="2144649"/>
                  </a:lnTo>
                  <a:cubicBezTo>
                    <a:pt x="4048760" y="2253615"/>
                    <a:pt x="3960495" y="2341880"/>
                    <a:pt x="38515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048760" cy="2389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normalize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417180">
            <a:off x="7105374" y="295313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7488555" y="2093595"/>
            <a:ext cx="3036570" cy="1756410"/>
            <a:chOff x="0" y="0"/>
            <a:chExt cx="4048760" cy="2341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487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40487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3851529" y="0"/>
                  </a:lnTo>
                  <a:cubicBezTo>
                    <a:pt x="3960495" y="0"/>
                    <a:pt x="4048760" y="88265"/>
                    <a:pt x="4048760" y="197231"/>
                  </a:cubicBezTo>
                  <a:lnTo>
                    <a:pt x="4048760" y="2144649"/>
                  </a:lnTo>
                  <a:cubicBezTo>
                    <a:pt x="4048760" y="2253615"/>
                    <a:pt x="3960495" y="2341880"/>
                    <a:pt x="38515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048760" cy="2379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Chunker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Fixed | Recursive | Semantic | Token | Agentic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417180">
            <a:off x="10488654" y="295313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0871835" y="2093595"/>
            <a:ext cx="3036570" cy="1756410"/>
            <a:chOff x="0" y="0"/>
            <a:chExt cx="4048760" cy="2341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487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40487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3851529" y="0"/>
                  </a:lnTo>
                  <a:cubicBezTo>
                    <a:pt x="3960495" y="0"/>
                    <a:pt x="4048760" y="88265"/>
                    <a:pt x="4048760" y="197231"/>
                  </a:cubicBezTo>
                  <a:lnTo>
                    <a:pt x="4048760" y="2144649"/>
                  </a:lnTo>
                  <a:cubicBezTo>
                    <a:pt x="4048760" y="2253615"/>
                    <a:pt x="3960495" y="2341880"/>
                    <a:pt x="38515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048760" cy="2389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qwen3-embedding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(chunk vectors)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17180">
            <a:off x="13871934" y="295313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14255115" y="2093595"/>
            <a:ext cx="3036570" cy="1756410"/>
            <a:chOff x="0" y="0"/>
            <a:chExt cx="4048760" cy="2341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48760" cy="2341880"/>
            </a:xfrm>
            <a:custGeom>
              <a:avLst/>
              <a:gdLst/>
              <a:ahLst/>
              <a:cxnLst/>
              <a:rect r="r" b="b" t="t" l="l"/>
              <a:pathLst>
                <a:path h="2341880" w="404876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3851529" y="0"/>
                  </a:lnTo>
                  <a:cubicBezTo>
                    <a:pt x="3960495" y="0"/>
                    <a:pt x="4048760" y="88265"/>
                    <a:pt x="4048760" y="197231"/>
                  </a:cubicBezTo>
                  <a:lnTo>
                    <a:pt x="4048760" y="2144649"/>
                  </a:lnTo>
                  <a:cubicBezTo>
                    <a:pt x="4048760" y="2253615"/>
                    <a:pt x="3960495" y="2341880"/>
                    <a:pt x="3851529" y="2341880"/>
                  </a:cubicBezTo>
                  <a:lnTo>
                    <a:pt x="197231" y="2341880"/>
                  </a:lnTo>
                  <a:cubicBezTo>
                    <a:pt x="88265" y="2341880"/>
                    <a:pt x="0" y="2253615"/>
                    <a:pt x="0" y="2144649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048760" cy="2389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Vector store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(index)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1995" y="5476875"/>
            <a:ext cx="3036570" cy="1573530"/>
            <a:chOff x="0" y="0"/>
            <a:chExt cx="4048760" cy="2098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487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40487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51275" y="0"/>
                  </a:lnTo>
                  <a:cubicBezTo>
                    <a:pt x="3960368" y="0"/>
                    <a:pt x="4048760" y="88392"/>
                    <a:pt x="4048760" y="197485"/>
                  </a:cubicBezTo>
                  <a:lnTo>
                    <a:pt x="4048760" y="1900555"/>
                  </a:lnTo>
                  <a:cubicBezTo>
                    <a:pt x="4048760" y="2009648"/>
                    <a:pt x="3960368" y="2098040"/>
                    <a:pt x="385127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048760" cy="214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417180">
            <a:off x="3722094" y="624497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4105275" y="5476875"/>
            <a:ext cx="3036570" cy="1573530"/>
            <a:chOff x="0" y="0"/>
            <a:chExt cx="4048760" cy="2098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487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40487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51275" y="0"/>
                  </a:lnTo>
                  <a:cubicBezTo>
                    <a:pt x="3960368" y="0"/>
                    <a:pt x="4048760" y="88392"/>
                    <a:pt x="4048760" y="197485"/>
                  </a:cubicBezTo>
                  <a:lnTo>
                    <a:pt x="4048760" y="1900555"/>
                  </a:lnTo>
                  <a:cubicBezTo>
                    <a:pt x="4048760" y="2009648"/>
                    <a:pt x="3960368" y="2098040"/>
                    <a:pt x="385127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048760" cy="214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qwen3-embedding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(query vector)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417180">
            <a:off x="7105374" y="624497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7488555" y="5476875"/>
            <a:ext cx="3036570" cy="1573530"/>
            <a:chOff x="0" y="0"/>
            <a:chExt cx="4048760" cy="2098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87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40487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51275" y="0"/>
                  </a:lnTo>
                  <a:cubicBezTo>
                    <a:pt x="3960368" y="0"/>
                    <a:pt x="4048760" y="88392"/>
                    <a:pt x="4048760" y="197485"/>
                  </a:cubicBezTo>
                  <a:lnTo>
                    <a:pt x="4048760" y="1900555"/>
                  </a:lnTo>
                  <a:cubicBezTo>
                    <a:pt x="4048760" y="2009648"/>
                    <a:pt x="3960368" y="2098040"/>
                    <a:pt x="385127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048760" cy="214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Similarity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 top-k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417180">
            <a:off x="10488654" y="624497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1" id="41"/>
          <p:cNvGrpSpPr/>
          <p:nvPr/>
        </p:nvGrpSpPr>
        <p:grpSpPr>
          <a:xfrm rot="0">
            <a:off x="10871835" y="5476875"/>
            <a:ext cx="3036570" cy="1573530"/>
            <a:chOff x="0" y="0"/>
            <a:chExt cx="4048760" cy="2098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487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40487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51275" y="0"/>
                  </a:lnTo>
                  <a:cubicBezTo>
                    <a:pt x="3960368" y="0"/>
                    <a:pt x="4048760" y="88392"/>
                    <a:pt x="4048760" y="197485"/>
                  </a:cubicBezTo>
                  <a:lnTo>
                    <a:pt x="4048760" y="1900555"/>
                  </a:lnTo>
                  <a:cubicBezTo>
                    <a:pt x="4048760" y="2009648"/>
                    <a:pt x="3960368" y="2098040"/>
                    <a:pt x="385127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048760" cy="214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construction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417180">
            <a:off x="13871934" y="6244971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14255115" y="5476875"/>
            <a:ext cx="3036570" cy="1573530"/>
            <a:chOff x="0" y="0"/>
            <a:chExt cx="4048760" cy="2098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48760" cy="2098040"/>
            </a:xfrm>
            <a:custGeom>
              <a:avLst/>
              <a:gdLst/>
              <a:ahLst/>
              <a:cxnLst/>
              <a:rect r="r" b="b" t="t" l="l"/>
              <a:pathLst>
                <a:path h="2098040" w="404876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51275" y="0"/>
                  </a:lnTo>
                  <a:cubicBezTo>
                    <a:pt x="3960368" y="0"/>
                    <a:pt x="4048760" y="88392"/>
                    <a:pt x="4048760" y="197485"/>
                  </a:cubicBezTo>
                  <a:lnTo>
                    <a:pt x="4048760" y="1900555"/>
                  </a:lnTo>
                  <a:cubicBezTo>
                    <a:pt x="4048760" y="2009648"/>
                    <a:pt x="3960368" y="2098040"/>
                    <a:pt x="3851275" y="2098040"/>
                  </a:cubicBezTo>
                  <a:lnTo>
                    <a:pt x="197485" y="2098040"/>
                  </a:lnTo>
                  <a:cubicBezTo>
                    <a:pt x="88392" y="2098040"/>
                    <a:pt x="0" y="2009648"/>
                    <a:pt x="0" y="1900555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4048760" cy="214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gemma4:31b-cloud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(answer)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rot="5297100">
            <a:off x="14924656" y="4653915"/>
            <a:ext cx="1697479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9" id="49"/>
          <p:cNvGrpSpPr/>
          <p:nvPr/>
        </p:nvGrpSpPr>
        <p:grpSpPr>
          <a:xfrm rot="0">
            <a:off x="731520" y="1682496"/>
            <a:ext cx="5486400" cy="365760"/>
            <a:chOff x="0" y="0"/>
            <a:chExt cx="7315200" cy="4876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Indexing phase (offline)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" y="5029200"/>
            <a:ext cx="5486400" cy="365760"/>
            <a:chOff x="0" y="0"/>
            <a:chExt cx="7315200" cy="4876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487680"/>
            </a:xfrm>
            <a:custGeom>
              <a:avLst/>
              <a:gdLst/>
              <a:ahLst/>
              <a:cxnLst/>
              <a:rect r="r" b="b" t="t" l="l"/>
              <a:pathLst>
                <a:path h="4876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31520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Query phase (online)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21995" y="7854315"/>
            <a:ext cx="16752570" cy="1024890"/>
            <a:chOff x="0" y="0"/>
            <a:chExt cx="22336760" cy="1366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336761" cy="1366520"/>
            </a:xfrm>
            <a:custGeom>
              <a:avLst/>
              <a:gdLst/>
              <a:ahLst/>
              <a:cxnLst/>
              <a:rect r="r" b="b" t="t" l="l"/>
              <a:pathLst>
                <a:path h="1366520" w="22336761">
                  <a:moveTo>
                    <a:pt x="0" y="198755"/>
                  </a:moveTo>
                  <a:cubicBezTo>
                    <a:pt x="0" y="89027"/>
                    <a:pt x="89027" y="0"/>
                    <a:pt x="198755" y="0"/>
                  </a:cubicBezTo>
                  <a:lnTo>
                    <a:pt x="22138005" y="0"/>
                  </a:lnTo>
                  <a:cubicBezTo>
                    <a:pt x="22247733" y="0"/>
                    <a:pt x="22336761" y="89027"/>
                    <a:pt x="22336761" y="198755"/>
                  </a:cubicBezTo>
                  <a:lnTo>
                    <a:pt x="22336761" y="1167765"/>
                  </a:lnTo>
                  <a:cubicBezTo>
                    <a:pt x="22336761" y="1277493"/>
                    <a:pt x="22247733" y="1366520"/>
                    <a:pt x="22138005" y="1366520"/>
                  </a:cubicBezTo>
                  <a:lnTo>
                    <a:pt x="198755" y="1366520"/>
                  </a:lnTo>
                  <a:cubicBezTo>
                    <a:pt x="89027" y="1366520"/>
                    <a:pt x="0" y="1277493"/>
                    <a:pt x="0" y="1167765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2336760" cy="1404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RAGAS evaluation (Recall, Precision, Faithfulness, Relevancy)  +  latency logger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5200380">
            <a:off x="15335783" y="7442835"/>
            <a:ext cx="87523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9" id="59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Literature Review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8138160"/>
            <a:ext cx="16459200" cy="914400"/>
            <a:chOff x="0" y="0"/>
            <a:chExt cx="21945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Gap: no controlled study isolating chunking strategy on an open-weight embedding + LLM stack.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Description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4875" y="2002155"/>
            <a:ext cx="5231130" cy="3219450"/>
            <a:chOff x="0" y="0"/>
            <a:chExt cx="6974840" cy="429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1998983"/>
            <a:ext cx="153419" cy="3225803"/>
            <a:chOff x="0" y="0"/>
            <a:chExt cx="204559" cy="4301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57984"/>
            <a:ext cx="4663440" cy="640080"/>
            <a:chOff x="0" y="0"/>
            <a:chExt cx="62179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Ingestion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9517" y="292925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Parse PDF, clean Unicode and whitespace, produce uniform text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2715" y="2002155"/>
            <a:ext cx="5231130" cy="3219450"/>
            <a:chOff x="0" y="0"/>
            <a:chExt cx="6974840" cy="4292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79543" y="1998983"/>
            <a:ext cx="153419" cy="3225803"/>
            <a:chOff x="0" y="0"/>
            <a:chExt cx="204559" cy="43010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0" y="2157984"/>
            <a:ext cx="4663440" cy="640080"/>
            <a:chOff x="0" y="0"/>
            <a:chExt cx="621792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Chunk generation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817357" y="292925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Run one of five chunkers chosen by configuration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0555" y="2002155"/>
            <a:ext cx="5231130" cy="3219450"/>
            <a:chOff x="0" y="0"/>
            <a:chExt cx="6974840" cy="4292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057383" y="1998983"/>
            <a:ext cx="153419" cy="3225803"/>
            <a:chOff x="0" y="0"/>
            <a:chExt cx="204559" cy="4301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435840" y="2157984"/>
            <a:ext cx="4663440" cy="640080"/>
            <a:chOff x="0" y="0"/>
            <a:chExt cx="621792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Embedding &amp; indexing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395197" y="292925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Embed chunks with qwen3-embedding; store vectors with metadata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04875" y="5568315"/>
            <a:ext cx="5231130" cy="3219450"/>
            <a:chOff x="0" y="0"/>
            <a:chExt cx="6974840" cy="4292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01703" y="5565143"/>
            <a:ext cx="153419" cy="3225803"/>
            <a:chOff x="0" y="0"/>
            <a:chExt cx="204559" cy="4301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80160" y="5724144"/>
            <a:ext cx="4663440" cy="640080"/>
            <a:chOff x="0" y="0"/>
            <a:chExt cx="621792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Retrieval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39517" y="649541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Embed query; cosine similarity search for top-k chunks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482715" y="5568315"/>
            <a:ext cx="5231130" cy="3219450"/>
            <a:chOff x="0" y="0"/>
            <a:chExt cx="6974840" cy="4292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479543" y="5565143"/>
            <a:ext cx="153419" cy="3225803"/>
            <a:chOff x="0" y="0"/>
            <a:chExt cx="204559" cy="43010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0" y="5724144"/>
            <a:ext cx="4663440" cy="640080"/>
            <a:chOff x="0" y="0"/>
            <a:chExt cx="62179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Answer generation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817357" y="649541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Build fixed prompt and context; gemma4:31b-cloud answers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060555" y="5568315"/>
            <a:ext cx="5231130" cy="3219450"/>
            <a:chOff x="0" y="0"/>
            <a:chExt cx="6974840" cy="4292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74840" cy="4292600"/>
            </a:xfrm>
            <a:custGeom>
              <a:avLst/>
              <a:gdLst/>
              <a:ahLst/>
              <a:cxnLst/>
              <a:rect r="r" b="b" t="t" l="l"/>
              <a:pathLst>
                <a:path h="4292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4292600"/>
                  </a:lnTo>
                  <a:lnTo>
                    <a:pt x="0" y="429260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057383" y="5565143"/>
            <a:ext cx="153419" cy="3225803"/>
            <a:chOff x="0" y="0"/>
            <a:chExt cx="204559" cy="43010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4597" cy="4301109"/>
            </a:xfrm>
            <a:custGeom>
              <a:avLst/>
              <a:gdLst/>
              <a:ahLst/>
              <a:cxnLst/>
              <a:rect r="r" b="b" t="t" l="l"/>
              <a:pathLst>
                <a:path h="430110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4301109"/>
                  </a:lnTo>
                  <a:lnTo>
                    <a:pt x="0" y="430110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435840" y="5724144"/>
            <a:ext cx="4663440" cy="640080"/>
            <a:chOff x="0" y="0"/>
            <a:chExt cx="6217920" cy="853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Evaluation &amp; logging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395197" y="6495412"/>
            <a:ext cx="4561837" cy="214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249" indent="-30162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RAGAS scores plus timestamps per stage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Module Workflow Explanation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0555" y="2002155"/>
            <a:ext cx="1847850" cy="933450"/>
            <a:chOff x="0" y="0"/>
            <a:chExt cx="2463800" cy="124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PDF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417180">
            <a:off x="244193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2825115" y="2002155"/>
            <a:ext cx="1847850" cy="933450"/>
            <a:chOff x="0" y="0"/>
            <a:chExt cx="2463800" cy="1244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text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417180">
            <a:off x="463649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5019675" y="2002155"/>
            <a:ext cx="1847850" cy="933450"/>
            <a:chOff x="0" y="0"/>
            <a:chExt cx="2463800" cy="1244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Chunks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417180">
            <a:off x="683105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7214235" y="2002155"/>
            <a:ext cx="1847850" cy="933450"/>
            <a:chOff x="0" y="0"/>
            <a:chExt cx="2463800" cy="1244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Vectors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417180">
            <a:off x="902561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408795" y="2002155"/>
            <a:ext cx="1847850" cy="933450"/>
            <a:chOff x="0" y="0"/>
            <a:chExt cx="2463800" cy="1244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Top-k chunks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417180">
            <a:off x="1122017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11603355" y="2002155"/>
            <a:ext cx="1847850" cy="933450"/>
            <a:chOff x="0" y="0"/>
            <a:chExt cx="2463800" cy="1244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417180">
            <a:off x="1341473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3797915" y="2002155"/>
            <a:ext cx="1847850" cy="933450"/>
            <a:chOff x="0" y="0"/>
            <a:chExt cx="2463800" cy="1244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C9A227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2222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Answer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417180">
            <a:off x="15609294" y="2459355"/>
            <a:ext cx="419643" cy="0"/>
          </a:xfrm>
          <a:prstGeom prst="line">
            <a:avLst/>
          </a:prstGeom>
          <a:ln cap="rnd" w="19050">
            <a:solidFill>
              <a:srgbClr val="C9A22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15992475" y="2002155"/>
            <a:ext cx="1847850" cy="933450"/>
            <a:chOff x="0" y="0"/>
            <a:chExt cx="2463800" cy="1244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638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638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2264664" y="0"/>
                  </a:lnTo>
                  <a:cubicBezTo>
                    <a:pt x="2374646" y="0"/>
                    <a:pt x="2463800" y="89154"/>
                    <a:pt x="2463800" y="199136"/>
                  </a:cubicBezTo>
                  <a:lnTo>
                    <a:pt x="2463800" y="1045464"/>
                  </a:lnTo>
                  <a:cubicBezTo>
                    <a:pt x="2463800" y="1155446"/>
                    <a:pt x="2374646" y="1244600"/>
                    <a:pt x="2264664" y="1244600"/>
                  </a:cubicBezTo>
                  <a:lnTo>
                    <a:pt x="199136" y="1244600"/>
                  </a:lnTo>
                  <a:cubicBezTo>
                    <a:pt x="89154" y="1244600"/>
                    <a:pt x="0" y="1155446"/>
                    <a:pt x="0" y="1045464"/>
                  </a:cubicBezTo>
                  <a:close/>
                </a:path>
              </a:pathLst>
            </a:custGeom>
            <a:solidFill>
              <a:srgbClr val="1F3B73"/>
            </a:solidFill>
            <a:ln w="19050" cap="sq">
              <a:solidFill>
                <a:srgbClr val="1F3B73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2463800" cy="1292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Scores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5197" y="3367402"/>
            <a:ext cx="16357597" cy="60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1 </a:t>
            </a: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ingestion normalizes the PDF into one text stream shared by all chunkers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</a:t>
            </a: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the active config splits text (fixed window, delimiters, similarity shifts, token budget, or LLM proposition) 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3 </a:t>
            </a: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each chunk is embedded and stored with source, offsets and chunk ID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4 </a:t>
            </a: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each question is embedded and matched by cosine similarity to get top-k context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5 </a:t>
            </a: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context and question fill a constant prompt; gemma4:31b-cloud writes the answer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b="true" sz="27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6 </a:t>
            </a:r>
            <a:r>
              <a:rPr lang="en-US" sz="27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contexts, answers and timings are logged; RAGAS scores them per configuration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Implementation and Coding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1703" y="1998983"/>
            <a:ext cx="10266683" cy="7249163"/>
            <a:chOff x="0" y="0"/>
            <a:chExt cx="13688911" cy="96655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88949" cy="9665589"/>
            </a:xfrm>
            <a:custGeom>
              <a:avLst/>
              <a:gdLst/>
              <a:ahLst/>
              <a:cxnLst/>
              <a:rect r="r" b="b" t="t" l="l"/>
              <a:pathLst>
                <a:path h="9665589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9665589"/>
                  </a:lnTo>
                  <a:lnTo>
                    <a:pt x="0" y="9665589"/>
                  </a:lnTo>
                  <a:close/>
                </a:path>
              </a:pathLst>
            </a:custGeom>
            <a:solidFill>
              <a:srgbClr val="1E2433"/>
            </a:solidFill>
            <a:ln w="25400" cap="sq">
              <a:solidFill>
                <a:srgbClr val="1E2433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48077" y="2235832"/>
            <a:ext cx="9773917" cy="685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# Core pipeline (simplified pseudocode)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cfg   = load_config(chunker, k, temp, top_p)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text  = normalize(read_pdf(path))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chunks = CHUNKERS[cfg.chunker](text)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vecs  = embed("qwen3-embedding", chunks)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index.add(vecs, chunks, metadata)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for q in questions: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  ctx = index.search(embed(q), k=cfg.k)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  ans = llm("gemma4:31b-cloud",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prompt(q, ctx))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  log(ctx, ans, timings)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E6EDF7"/>
                </a:solidFill>
                <a:latin typeface="Courier New"/>
                <a:ea typeface="Courier New"/>
                <a:cs typeface="Courier New"/>
                <a:sym typeface="Courier New"/>
              </a:rPr>
              <a:t>scores = ragas.evaluate(logs)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2237" y="2005327"/>
            <a:ext cx="5933437" cy="708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</a:t>
            </a: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one module per stage, driven by a config manifest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Constant </a:t>
            </a: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prompt, temperature, top-p, questions, embedding model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Chunkers </a:t>
            </a: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fixed, recursive, semantic, token, agentic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Logged </a:t>
            </a: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retrieved contexts, answers, stage timestamps, RAGAS scores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b="true" sz="26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Note </a:t>
            </a: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replace with your actual code or screenshots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12922" y="2087242"/>
            <a:ext cx="14662147" cy="7164067"/>
            <a:chOff x="0" y="0"/>
            <a:chExt cx="19549529" cy="95520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49490" cy="9552051"/>
            </a:xfrm>
            <a:custGeom>
              <a:avLst/>
              <a:gdLst/>
              <a:ahLst/>
              <a:cxnLst/>
              <a:rect r="r" b="b" t="t" l="l"/>
              <a:pathLst>
                <a:path h="9552051" w="19549490">
                  <a:moveTo>
                    <a:pt x="0" y="0"/>
                  </a:moveTo>
                  <a:lnTo>
                    <a:pt x="19549490" y="0"/>
                  </a:lnTo>
                  <a:lnTo>
                    <a:pt x="19549490" y="9552051"/>
                  </a:lnTo>
                  <a:lnTo>
                    <a:pt x="0" y="9552051"/>
                  </a:lnTo>
                  <a:close/>
                </a:path>
              </a:pathLst>
            </a:custGeom>
            <a:solidFill>
              <a:srgbClr val="F5F7FA"/>
            </a:solidFill>
            <a:ln w="31750" cap="sq">
              <a:solidFill>
                <a:srgbClr val="6B7280"/>
              </a:solidFill>
              <a:prstDash val="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828800" y="2103120"/>
            <a:ext cx="14630400" cy="7132320"/>
            <a:chOff x="0" y="0"/>
            <a:chExt cx="19507200" cy="9509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509760"/>
                  </a:lnTo>
                  <a:lnTo>
                    <a:pt x="0" y="9509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47" t="0" r="-1254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507200" cy="9566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Insert demo video here</a:t>
              </a:r>
            </a:p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(Insert ▸ Video ▸ This Device)</a:t>
              </a:r>
            </a:p>
          </p:txBody>
        </p:sp>
      </p:grpSp>
      <p:pic>
        <p:nvPicPr>
          <p:cNvPr name="Picture 14" id="1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28700" y="1462420"/>
            <a:ext cx="16230600" cy="736216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Video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40961" y="2348422"/>
            <a:ext cx="14672004" cy="6628041"/>
          </a:xfrm>
          <a:custGeom>
            <a:avLst/>
            <a:gdLst/>
            <a:ahLst/>
            <a:cxnLst/>
            <a:rect r="r" b="b" t="t" l="l"/>
            <a:pathLst>
              <a:path h="6628041" w="14672004">
                <a:moveTo>
                  <a:pt x="0" y="0"/>
                </a:moveTo>
                <a:lnTo>
                  <a:pt x="14672004" y="0"/>
                </a:lnTo>
                <a:lnTo>
                  <a:pt x="14672004" y="6628041"/>
                </a:lnTo>
                <a:lnTo>
                  <a:pt x="0" y="662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Snapshots of the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Testing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4875" y="2002155"/>
            <a:ext cx="8065770" cy="4682490"/>
            <a:chOff x="0" y="0"/>
            <a:chExt cx="10754360" cy="6243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54360" cy="6243320"/>
            </a:xfrm>
            <a:custGeom>
              <a:avLst/>
              <a:gdLst/>
              <a:ahLst/>
              <a:cxnLst/>
              <a:rect r="r" b="b" t="t" l="l"/>
              <a:pathLst>
                <a:path h="624332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6243320"/>
                  </a:lnTo>
                  <a:lnTo>
                    <a:pt x="0" y="624332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1703" y="1998983"/>
            <a:ext cx="153419" cy="4688843"/>
            <a:chOff x="0" y="0"/>
            <a:chExt cx="204559" cy="6251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597" cy="6251829"/>
            </a:xfrm>
            <a:custGeom>
              <a:avLst/>
              <a:gdLst/>
              <a:ahLst/>
              <a:cxnLst/>
              <a:rect r="r" b="b" t="t" l="l"/>
              <a:pathLst>
                <a:path h="62518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57984"/>
            <a:ext cx="7498080" cy="640080"/>
            <a:chOff x="0" y="0"/>
            <a:chExt cx="999744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9974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setup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39517" y="2919727"/>
            <a:ext cx="7396477" cy="36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Corpus: evaluation PDF (~350 KB)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5 configurations C01–C05 on the same questions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Same prompt, temperature, top-p and top-k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Latency timed with identical boundaries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Outputs stored for inspection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17355" y="2002155"/>
            <a:ext cx="8065770" cy="4682490"/>
            <a:chOff x="0" y="0"/>
            <a:chExt cx="10754360" cy="6243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4360" cy="6243320"/>
            </a:xfrm>
            <a:custGeom>
              <a:avLst/>
              <a:gdLst/>
              <a:ahLst/>
              <a:cxnLst/>
              <a:rect r="r" b="b" t="t" l="l"/>
              <a:pathLst>
                <a:path h="6243320" w="10754360">
                  <a:moveTo>
                    <a:pt x="0" y="0"/>
                  </a:moveTo>
                  <a:lnTo>
                    <a:pt x="10754360" y="0"/>
                  </a:lnTo>
                  <a:lnTo>
                    <a:pt x="10754360" y="6243320"/>
                  </a:lnTo>
                  <a:lnTo>
                    <a:pt x="0" y="6243320"/>
                  </a:lnTo>
                  <a:close/>
                </a:path>
              </a:pathLst>
            </a:custGeom>
            <a:solidFill>
              <a:srgbClr val="E8EFF8"/>
            </a:solidFill>
            <a:ln w="19050" cap="sq">
              <a:solidFill>
                <a:srgbClr val="C5D3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314183" y="1998983"/>
            <a:ext cx="153419" cy="4688843"/>
            <a:chOff x="0" y="0"/>
            <a:chExt cx="204559" cy="62517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4597" cy="6251829"/>
            </a:xfrm>
            <a:custGeom>
              <a:avLst/>
              <a:gdLst/>
              <a:ahLst/>
              <a:cxnLst/>
              <a:rect r="r" b="b" t="t" l="l"/>
              <a:pathLst>
                <a:path h="6251829" w="204597">
                  <a:moveTo>
                    <a:pt x="0" y="0"/>
                  </a:moveTo>
                  <a:lnTo>
                    <a:pt x="204597" y="0"/>
                  </a:lnTo>
                  <a:lnTo>
                    <a:pt x="204597" y="6251829"/>
                  </a:lnTo>
                  <a:lnTo>
                    <a:pt x="0" y="6251829"/>
                  </a:lnTo>
                  <a:close/>
                </a:path>
              </a:pathLst>
            </a:custGeom>
            <a:solidFill>
              <a:srgbClr val="C9A227"/>
            </a:solidFill>
            <a:ln w="25400" cap="sq">
              <a:solidFill>
                <a:srgbClr val="C9A22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92640" y="2157984"/>
            <a:ext cx="7498080" cy="640080"/>
            <a:chOff x="0" y="0"/>
            <a:chExt cx="999744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999744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Metrics captured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51997" y="2919727"/>
            <a:ext cx="7396477" cy="3613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Recall, Context Precision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Faithfulness, Answer Relevancy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Latency: indexing, retrieval, generation, total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Composite score S(c) and tie-breaks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8686800"/>
            <a:ext cx="16459200" cy="548640"/>
            <a:chOff x="0" y="0"/>
            <a:chExt cx="21945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configuration uses qwen3-embedding:latest + gemma4:31b-cloud. Results come from single runs.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 and Discussion: Input and Output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1828800"/>
            <a:ext cx="16459200" cy="548640"/>
            <a:chOff x="0" y="0"/>
            <a:chExt cx="219456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Input: 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PDF corpus + question set + chunking config   </a:t>
              </a:r>
              <a:r>
                <a:rPr lang="en-US" sz="2400" b="true">
                  <a:solidFill>
                    <a:srgbClr val="1F3B7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Output: </a:t>
              </a:r>
              <a:r>
                <a:rPr lang="en-US" sz="24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answer, retrieved context, scores, latency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37744" y="1499616"/>
            <a:ext cx="11631168" cy="8796528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10698480" y="7315200"/>
            <a:ext cx="6766560" cy="1097280"/>
            <a:chOff x="0" y="0"/>
            <a:chExt cx="902208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22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157" r="0" b="-701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22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Values are single-run benchmark figures; replace with final experiment logs if they differ.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 Discussion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197" y="2005327"/>
            <a:ext cx="16357597" cy="708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Agentic (C05)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best S(c) = 0.555 and highest Precision (0.365) at 7.28 s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Fixed (C02)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S(c) = 0.539 at 4.90 s, the best speed–quality balance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Semantic (C03)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fastest (3.54 s) but weakest retrieval (Recall 0.150)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Token (C04)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strong Precision (0.345) but slowest at 11.82 s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Faithfulness is 1.000 everywhere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differences come from retrieval, not generation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Pareto frontier </a:t>
            </a: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C03, C02 and C05; C01 and C04 are dominated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554480"/>
            <a:chOff x="0" y="0"/>
            <a:chExt cx="2438400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F3B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54480"/>
            <a:ext cx="18288000" cy="91440"/>
            <a:chOff x="0" y="0"/>
            <a:chExt cx="24384000" cy="12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C9A2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" y="9692640"/>
            <a:ext cx="10972800" cy="457200"/>
            <a:chOff x="0" y="0"/>
            <a:chExt cx="146304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 125  |  Dept. of CSE, VIT Bhopal University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1520" y="59055"/>
            <a:ext cx="16824960" cy="13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9"/>
              </a:lnSpc>
            </a:pPr>
            <a:r>
              <a:rPr lang="en-US" sz="5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197" y="1995802"/>
            <a:ext cx="16357597" cy="709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Summary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treated RAG as modular components and isolated the effect of chunking on retrieval, generation and latency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Findings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agentic chunking led on quality; fixed-size chunking gave the best efficiency; semantic chunking was fastest but least effective here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Takeaway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the best configuration depends on workload and latency budget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1F3B7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work </a:t>
            </a:r>
            <a:r>
              <a:rPr lang="en-US" sz="33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 reranking and hybrid retrieval, hyperparameter grid search, more domains, human evaluation and repeated trials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6400" y="9663684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DAHXooArNL4</dc:identifier>
  <dcterms:modified xsi:type="dcterms:W3CDTF">2011-08-01T06:04:30Z</dcterms:modified>
  <cp:revision>1</cp:revision>
  <dc:title>RAG_Project_Presentation.pptx</dc:title>
</cp:coreProperties>
</file>